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64" r:id="rId3"/>
    <p:sldId id="265" r:id="rId4"/>
    <p:sldId id="266" r:id="rId5"/>
    <p:sldId id="267" r:id="rId6"/>
    <p:sldId id="272" r:id="rId7"/>
    <p:sldId id="274" r:id="rId8"/>
    <p:sldId id="273" r:id="rId9"/>
    <p:sldId id="271" r:id="rId10"/>
    <p:sldId id="268" r:id="rId11"/>
    <p:sldId id="275" r:id="rId12"/>
    <p:sldId id="269" r:id="rId13"/>
    <p:sldId id="276" r:id="rId14"/>
    <p:sldId id="270" r:id="rId15"/>
    <p:sldId id="277" r:id="rId16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47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70548"/>
  </p:normalViewPr>
  <p:slideViewPr>
    <p:cSldViewPr showGuides="1">
      <p:cViewPr>
        <p:scale>
          <a:sx n="99" d="100"/>
          <a:sy n="99" d="100"/>
        </p:scale>
        <p:origin x="816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69D40-A010-49F0-B507-5EF11CF3E296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B4BEF9-4345-410B-8554-2E50C721A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70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Актуальность темы обусловлена тем, что корпоративные маркетинговые сайты требуют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регулярного обновления контента, поддержки нескольких языков, управления структурой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страниц и воспроизводимого сценария вывода изменений на публичную витрину. При</a:t>
            </a:r>
          </a:p>
          <a:p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кодо-центричном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подходе эти задачи решаются разрозненно, а публикация зависит от ручных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действий разработчика.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Объектом исследования являются процессы управления контентом корпоративного маркетингового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сайта. Предметом исследования являются архитектурные и программные решения для построения</a:t>
            </a:r>
          </a:p>
          <a:p>
            <a:r>
              <a:rPr lang="e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CMS-first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веб-платформы на базе </a:t>
            </a:r>
            <a:r>
              <a:rPr lang="e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Strapi</a:t>
            </a:r>
            <a:r>
              <a:rPr lang="e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Astro.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 работы состояла в разработке системы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управления контентом, позволяющей управлять страницами, статьями, кейсами и вакансиями без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постоянного участия разработчика</a:t>
            </a:r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4BEF9-4345-410B-8554-2E50C721AA6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641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5BAB-F962-6BBE-F3D5-437AB37BB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B0D07B3-963C-E80A-22A7-306DE54A5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FF8A3D9-2EFF-005B-9EC5-3933B9599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Задачи работы полностью соответствуют введению ВКР и охватывают анализ предметной области,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проектирование системы, реализацию </a:t>
            </a:r>
            <a:r>
              <a:rPr lang="e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CMS-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контура, реализацию публичной витрины,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эксплуатационный контур и итоговую проверку результата.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8FB35B-3C46-4900-CB99-89116A31B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4BEF9-4345-410B-8554-2E50C721AA6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19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9DE0A-0B63-6E20-3B26-E4D5A237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0039BE0-66F1-C2C5-F84E-4FCE40DB8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E7337D6-ABD3-D1B7-D425-EE5F50364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ходе исследования были показаны ограничения подхода, при котором контент и публичная витрина остаются жестко связаны, и обоснован выбор </a:t>
            </a:r>
            <a:r>
              <a:rPr lang="en" dirty="0"/>
              <a:t>CMS-first </a:t>
            </a:r>
            <a:r>
              <a:rPr lang="ru-RU" dirty="0"/>
              <a:t>архитектуры с разделением контентного и </a:t>
            </a:r>
            <a:r>
              <a:rPr lang="en" dirty="0"/>
              <a:t>frontend-</a:t>
            </a:r>
            <a:r>
              <a:rPr lang="ru-RU" dirty="0"/>
              <a:t>слоев. В этой схеме </a:t>
            </a:r>
            <a:r>
              <a:rPr lang="en" dirty="0" err="1"/>
              <a:t>Strapi</a:t>
            </a:r>
            <a:r>
              <a:rPr lang="en" dirty="0"/>
              <a:t> </a:t>
            </a:r>
            <a:r>
              <a:rPr lang="ru-RU" dirty="0"/>
              <a:t>используется как центр управления контентом, а </a:t>
            </a:r>
            <a:r>
              <a:rPr lang="en" dirty="0"/>
              <a:t>Astro — </a:t>
            </a:r>
            <a:r>
              <a:rPr lang="ru-RU" dirty="0"/>
              <a:t>как публичная витрина.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A2113E-CD52-F657-A354-C61277ECF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4BEF9-4345-410B-8554-2E50C721AA6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400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290F0-D891-40CD-CDF6-635E90333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9B7F038-8D1F-3DF5-9972-FFF1CD1F4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63CD2BA-9DD6-F37A-87CD-A580E8C3E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практической части работы реализован контур управления ключевыми сущностями через </a:t>
            </a:r>
            <a:r>
              <a:rPr lang="en" dirty="0" err="1"/>
              <a:t>Strapi</a:t>
            </a:r>
            <a:r>
              <a:rPr lang="en" dirty="0"/>
              <a:t>, </a:t>
            </a:r>
            <a:r>
              <a:rPr lang="ru-RU" dirty="0"/>
              <a:t>включая </a:t>
            </a:r>
            <a:r>
              <a:rPr lang="en" dirty="0"/>
              <a:t>home-page, page, article, project, vacancy, </a:t>
            </a:r>
            <a:r>
              <a:rPr lang="ru-RU" dirty="0"/>
              <a:t>связанные справочники и прикладные сущности форм. Для маркетинговых страниц разработан конструктор на основе </a:t>
            </a:r>
            <a:r>
              <a:rPr lang="en" dirty="0"/>
              <a:t>Dynamic Zone, </a:t>
            </a:r>
            <a:r>
              <a:rPr lang="ru-RU" dirty="0"/>
              <a:t>что позволяет редактировать структуру страницы без изменения </a:t>
            </a:r>
            <a:r>
              <a:rPr lang="en" dirty="0"/>
              <a:t>frontend-</a:t>
            </a:r>
            <a:r>
              <a:rPr lang="ru-RU" dirty="0"/>
              <a:t>кода.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CFFC08-A5FB-559D-4660-A5D8ED1BD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4BEF9-4345-410B-8554-2E50C721AA6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038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6DE27-030F-FE4B-45BE-F1BF64D2A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83A053D-DE62-BD57-5EC4-042F2264E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93F91D8-B61E-75C4-4ED9-3EC25C251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практической части работы реализован контур управления ключевыми сущностями через </a:t>
            </a:r>
            <a:r>
              <a:rPr lang="en" dirty="0" err="1"/>
              <a:t>Strapi</a:t>
            </a:r>
            <a:r>
              <a:rPr lang="en" dirty="0"/>
              <a:t>, </a:t>
            </a:r>
            <a:r>
              <a:rPr lang="ru-RU" dirty="0"/>
              <a:t>включая </a:t>
            </a:r>
            <a:r>
              <a:rPr lang="en" dirty="0"/>
              <a:t>home-page, page, article, project, vacancy, </a:t>
            </a:r>
            <a:r>
              <a:rPr lang="ru-RU" dirty="0"/>
              <a:t>связанные справочники и прикладные сущности форм. Для маркетинговых страниц разработан конструктор на основе </a:t>
            </a:r>
            <a:r>
              <a:rPr lang="en" dirty="0"/>
              <a:t>Dynamic Zone, </a:t>
            </a:r>
            <a:r>
              <a:rPr lang="ru-RU" dirty="0"/>
              <a:t>что позволяет редактировать структуру страницы без изменения </a:t>
            </a:r>
            <a:r>
              <a:rPr lang="en" dirty="0"/>
              <a:t>frontend-</a:t>
            </a:r>
            <a:r>
              <a:rPr lang="ru-RU" dirty="0"/>
              <a:t>кода.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B25063-D2D7-9067-8CDC-23E134D52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4BEF9-4345-410B-8554-2E50C721AA6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0131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7A095-AB8B-2A91-A22D-02AC8AA21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A2A9348-25F3-B8B5-D9F4-1E7FA7FDF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42F8D32-EAE6-A915-BF12-4BD8E23FD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практической части работы реализован контур управления ключевыми сущностями через </a:t>
            </a:r>
            <a:r>
              <a:rPr lang="en" dirty="0" err="1"/>
              <a:t>Strapi</a:t>
            </a:r>
            <a:r>
              <a:rPr lang="en" dirty="0"/>
              <a:t>, </a:t>
            </a:r>
            <a:r>
              <a:rPr lang="ru-RU" dirty="0"/>
              <a:t>включая </a:t>
            </a:r>
            <a:r>
              <a:rPr lang="en" dirty="0"/>
              <a:t>home-page, page, article, project, vacancy, </a:t>
            </a:r>
            <a:r>
              <a:rPr lang="ru-RU" dirty="0"/>
              <a:t>связанные справочники и прикладные сущности форм. Для маркетинговых страниц разработан конструктор на основе </a:t>
            </a:r>
            <a:r>
              <a:rPr lang="en" dirty="0"/>
              <a:t>Dynamic Zone, </a:t>
            </a:r>
            <a:r>
              <a:rPr lang="ru-RU" dirty="0"/>
              <a:t>что позволяет редактировать структуру страницы без изменения </a:t>
            </a:r>
            <a:r>
              <a:rPr lang="en" dirty="0"/>
              <a:t>frontend-</a:t>
            </a:r>
            <a:r>
              <a:rPr lang="ru-RU" dirty="0"/>
              <a:t>кода.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D8D0E8-7918-761A-C345-854C3888D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4BEF9-4345-410B-8554-2E50C721AA6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089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F96C0-3306-D878-1025-8EC2552FF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C2FFEC5-C703-37C6-413D-9FE22A3D8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C31A67E-C6AE-0F15-A671-9F8E4351A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практической части работы реализован контур управления ключевыми сущностями через </a:t>
            </a:r>
            <a:r>
              <a:rPr lang="en" dirty="0" err="1"/>
              <a:t>Strapi</a:t>
            </a:r>
            <a:r>
              <a:rPr lang="en" dirty="0"/>
              <a:t>, </a:t>
            </a:r>
            <a:r>
              <a:rPr lang="ru-RU" dirty="0"/>
              <a:t>включая </a:t>
            </a:r>
            <a:r>
              <a:rPr lang="en" dirty="0"/>
              <a:t>home-page, page, article, project, vacancy, </a:t>
            </a:r>
            <a:r>
              <a:rPr lang="ru-RU" dirty="0"/>
              <a:t>связанные справочники и прикладные сущности форм. Для маркетинговых страниц разработан конструктор на основе </a:t>
            </a:r>
            <a:r>
              <a:rPr lang="en" dirty="0"/>
              <a:t>Dynamic Zone, </a:t>
            </a:r>
            <a:r>
              <a:rPr lang="ru-RU" dirty="0"/>
              <a:t>что позволяет редактировать структуру страницы без изменения </a:t>
            </a:r>
            <a:r>
              <a:rPr lang="en" dirty="0"/>
              <a:t>frontend-</a:t>
            </a:r>
            <a:r>
              <a:rPr lang="ru-RU" dirty="0"/>
              <a:t>кода.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F007E1-E5AC-1AB2-37F2-D3ED77676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4BEF9-4345-410B-8554-2E50C721AA6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908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07A5A-7326-C5F2-B73C-F5C2E1080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3192666-0C5A-BD71-4AD4-D1DEC991A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A272591-EE47-406B-D450-889BF0107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Витрина на </a:t>
            </a:r>
            <a:r>
              <a:rPr lang="en" dirty="0"/>
              <a:t>Astro </a:t>
            </a:r>
            <a:r>
              <a:rPr lang="ru-RU" dirty="0"/>
              <a:t>реализована по </a:t>
            </a:r>
            <a:r>
              <a:rPr lang="en" dirty="0"/>
              <a:t>CMS-first </a:t>
            </a:r>
            <a:r>
              <a:rPr lang="ru-RU" dirty="0"/>
              <a:t>модели с локализованными маршрутами, режимом предварительного просмотра, </a:t>
            </a:r>
            <a:r>
              <a:rPr lang="en" dirty="0"/>
              <a:t>SEO-</a:t>
            </a:r>
            <a:r>
              <a:rPr lang="ru-RU" dirty="0"/>
              <a:t>контуром, </a:t>
            </a:r>
            <a:r>
              <a:rPr lang="en" dirty="0"/>
              <a:t>Open Graph </a:t>
            </a:r>
            <a:r>
              <a:rPr lang="ru-RU" dirty="0"/>
              <a:t>и генерацией </a:t>
            </a:r>
            <a:r>
              <a:rPr lang="en" dirty="0"/>
              <a:t>sitemap. </a:t>
            </a:r>
            <a:r>
              <a:rPr lang="ru-RU" dirty="0"/>
              <a:t>Черновой контент доступен через </a:t>
            </a:r>
            <a:r>
              <a:rPr lang="en" dirty="0"/>
              <a:t>preview-</a:t>
            </a:r>
            <a:r>
              <a:rPr lang="ru-RU" dirty="0"/>
              <a:t>сценарий и не раскрывается через публичный </a:t>
            </a:r>
            <a:r>
              <a:rPr lang="en" dirty="0"/>
              <a:t>API.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CAEB10-26F7-74A0-9F3D-24A7AF0A7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4BEF9-4345-410B-8554-2E50C721AA6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391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6F9FD-316D-D8B9-3C91-FA721516C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EF8753E-A7EF-99F1-BCB9-9331D4D65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402936D-E1C6-87CD-F1AD-093E17A22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ходе исследования были показаны ограничения подхода, при котором контент и публичная витрина остаются жестко связаны, и обоснован выбор </a:t>
            </a:r>
            <a:r>
              <a:rPr lang="en" dirty="0"/>
              <a:t>CMS-first </a:t>
            </a:r>
            <a:r>
              <a:rPr lang="ru-RU" dirty="0"/>
              <a:t>архитектуры с разделением контентного и </a:t>
            </a:r>
            <a:r>
              <a:rPr lang="en" dirty="0"/>
              <a:t>frontend-</a:t>
            </a:r>
            <a:r>
              <a:rPr lang="ru-RU" dirty="0"/>
              <a:t>слоев. В этой схеме </a:t>
            </a:r>
            <a:r>
              <a:rPr lang="en" dirty="0" err="1"/>
              <a:t>Strapi</a:t>
            </a:r>
            <a:r>
              <a:rPr lang="en" dirty="0"/>
              <a:t> </a:t>
            </a:r>
            <a:r>
              <a:rPr lang="ru-RU" dirty="0"/>
              <a:t>используется как центр управления контентом, а </a:t>
            </a:r>
            <a:r>
              <a:rPr lang="en" dirty="0"/>
              <a:t>Astro — </a:t>
            </a:r>
            <a:r>
              <a:rPr lang="ru-RU" dirty="0"/>
              <a:t>как публичная витрина.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4CBAFC-7A16-1CA6-145A-6B917EB3A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4BEF9-4345-410B-8554-2E50C721AA6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288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E625D-A28B-452F-9DEF-3F70C6BBC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A2F2753-D166-08D6-35D1-86B15DDA7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796DC31-D7A1-3BA6-6238-408F87E48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ходе исследования были показаны ограничения подхода, при котором контент и публичная витрина остаются жестко связаны, и обоснован выбор </a:t>
            </a:r>
            <a:r>
              <a:rPr lang="en" dirty="0"/>
              <a:t>CMS-first </a:t>
            </a:r>
            <a:r>
              <a:rPr lang="ru-RU" dirty="0"/>
              <a:t>архитектуры с разделением контентного и </a:t>
            </a:r>
            <a:r>
              <a:rPr lang="en" dirty="0"/>
              <a:t>frontend-</a:t>
            </a:r>
            <a:r>
              <a:rPr lang="ru-RU" dirty="0"/>
              <a:t>слоев. В этой схеме </a:t>
            </a:r>
            <a:r>
              <a:rPr lang="en" dirty="0" err="1"/>
              <a:t>Strapi</a:t>
            </a:r>
            <a:r>
              <a:rPr lang="en" dirty="0"/>
              <a:t> </a:t>
            </a:r>
            <a:r>
              <a:rPr lang="ru-RU" dirty="0"/>
              <a:t>используется как центр управления контентом, а </a:t>
            </a:r>
            <a:r>
              <a:rPr lang="en" dirty="0"/>
              <a:t>Astro — </a:t>
            </a:r>
            <a:r>
              <a:rPr lang="ru-RU" dirty="0"/>
              <a:t>как публичная витрина.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3F696F-A2BB-B455-2548-BF25E00A4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4BEF9-4345-410B-8554-2E50C721AA6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607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690DD-75E0-4A74-E71E-8A1F3842D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66FA1A9-B499-4E71-5162-47EE96F74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D4337F3-8169-76E8-972B-CCB153B98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Эксплуатационный контур оформлен как самостоятельная часть архитектуры. Публикация в </a:t>
            </a:r>
            <a:r>
              <a:rPr lang="en" dirty="0" err="1"/>
              <a:t>Strapi</a:t>
            </a:r>
            <a:r>
              <a:rPr lang="en" dirty="0"/>
              <a:t> </a:t>
            </a:r>
            <a:r>
              <a:rPr lang="ru-RU" dirty="0"/>
              <a:t>управляет обновлением витрины через </a:t>
            </a:r>
            <a:r>
              <a:rPr lang="en" dirty="0"/>
              <a:t>webhook, </a:t>
            </a:r>
            <a:r>
              <a:rPr lang="ru-RU" dirty="0"/>
              <a:t>а </a:t>
            </a:r>
            <a:r>
              <a:rPr lang="en" dirty="0"/>
              <a:t>frontend </a:t>
            </a:r>
            <a:r>
              <a:rPr lang="ru-RU" dirty="0"/>
              <a:t>и </a:t>
            </a:r>
            <a:r>
              <a:rPr lang="en" dirty="0"/>
              <a:t>CMS </a:t>
            </a:r>
            <a:r>
              <a:rPr lang="ru-RU" dirty="0"/>
              <a:t>разворачиваются как отдельные </a:t>
            </a:r>
            <a:r>
              <a:rPr lang="en" dirty="0"/>
              <a:t>Docker-</a:t>
            </a:r>
            <a:r>
              <a:rPr lang="ru-RU" dirty="0"/>
              <a:t>приложения под управлением </a:t>
            </a:r>
            <a:r>
              <a:rPr lang="en" dirty="0" err="1"/>
              <a:t>Dokploy</a:t>
            </a:r>
            <a:r>
              <a:rPr lang="en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680937-B522-8EB1-A27A-BD58799B0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4BEF9-4345-410B-8554-2E50C721AA6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969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72AC6-B1B2-996F-0D25-19E84716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9887A81-2C65-49D9-859F-B02DB2BA6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3CCA87A-F40A-132E-2A0D-9820271F5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Эксплуатационный контур оформлен как самостоятельная часть архитектуры. Публикация в </a:t>
            </a:r>
            <a:r>
              <a:rPr lang="en" dirty="0" err="1"/>
              <a:t>Strapi</a:t>
            </a:r>
            <a:r>
              <a:rPr lang="en" dirty="0"/>
              <a:t> </a:t>
            </a:r>
            <a:r>
              <a:rPr lang="ru-RU" dirty="0"/>
              <a:t>управляет обновлением витрины через </a:t>
            </a:r>
            <a:r>
              <a:rPr lang="en" dirty="0"/>
              <a:t>webhook, </a:t>
            </a:r>
            <a:r>
              <a:rPr lang="ru-RU" dirty="0"/>
              <a:t>а </a:t>
            </a:r>
            <a:r>
              <a:rPr lang="en" dirty="0"/>
              <a:t>frontend </a:t>
            </a:r>
            <a:r>
              <a:rPr lang="ru-RU" dirty="0"/>
              <a:t>и </a:t>
            </a:r>
            <a:r>
              <a:rPr lang="en" dirty="0"/>
              <a:t>CMS </a:t>
            </a:r>
            <a:r>
              <a:rPr lang="ru-RU" dirty="0"/>
              <a:t>разворачиваются как отдельные </a:t>
            </a:r>
            <a:r>
              <a:rPr lang="en" dirty="0"/>
              <a:t>Docker-</a:t>
            </a:r>
            <a:r>
              <a:rPr lang="ru-RU" dirty="0"/>
              <a:t>приложения под управлением </a:t>
            </a:r>
            <a:r>
              <a:rPr lang="en" dirty="0" err="1"/>
              <a:t>Dokploy</a:t>
            </a:r>
            <a:r>
              <a:rPr lang="en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8C546B-F2D8-85C2-C393-B9D32A0867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4BEF9-4345-410B-8554-2E50C721AA6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663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B5E02-06C8-D767-BA62-718CCD04B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EB5BBF9-63CA-C1BF-5FAA-CF0DBB93E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62CAC6A-5E2B-FCD7-0E99-A4AB4F050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практической части работы реализован контур управления ключевыми сущностями через </a:t>
            </a:r>
            <a:r>
              <a:rPr lang="en" dirty="0" err="1"/>
              <a:t>Strapi</a:t>
            </a:r>
            <a:r>
              <a:rPr lang="en" dirty="0"/>
              <a:t>, </a:t>
            </a:r>
            <a:r>
              <a:rPr lang="ru-RU" dirty="0"/>
              <a:t>включая </a:t>
            </a:r>
            <a:r>
              <a:rPr lang="en" dirty="0"/>
              <a:t>home-page, page, article, project, vacancy, </a:t>
            </a:r>
            <a:r>
              <a:rPr lang="ru-RU" dirty="0"/>
              <a:t>связанные справочники и прикладные сущности форм. Для маркетинговых страниц разработан конструктор на основе </a:t>
            </a:r>
            <a:r>
              <a:rPr lang="en" dirty="0"/>
              <a:t>Dynamic Zone, </a:t>
            </a:r>
            <a:r>
              <a:rPr lang="ru-RU" dirty="0"/>
              <a:t>что позволяет редактировать структуру страницы без изменения </a:t>
            </a:r>
            <a:r>
              <a:rPr lang="en" dirty="0"/>
              <a:t>frontend-</a:t>
            </a:r>
            <a:r>
              <a:rPr lang="ru-RU" dirty="0"/>
              <a:t>кода.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E63425-A7FD-524F-8B66-618658198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4BEF9-4345-410B-8554-2E50C721AA6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612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1B749-95B2-C778-DEFD-E5BFADC18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359256F-AAF3-50D5-DABC-5118C3554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6CB9874-8234-E0C9-F365-64C9A03C4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практической части работы реализован контур управления ключевыми сущностями через </a:t>
            </a:r>
            <a:r>
              <a:rPr lang="en" dirty="0" err="1"/>
              <a:t>Strapi</a:t>
            </a:r>
            <a:r>
              <a:rPr lang="en" dirty="0"/>
              <a:t>, </a:t>
            </a:r>
            <a:r>
              <a:rPr lang="ru-RU" dirty="0"/>
              <a:t>включая </a:t>
            </a:r>
            <a:r>
              <a:rPr lang="en" dirty="0"/>
              <a:t>home-page, page, article, project, vacancy, </a:t>
            </a:r>
            <a:r>
              <a:rPr lang="ru-RU" dirty="0"/>
              <a:t>связанные справочники и прикладные сущности форм. Для маркетинговых страниц разработан конструктор на основе </a:t>
            </a:r>
            <a:r>
              <a:rPr lang="en" dirty="0"/>
              <a:t>Dynamic Zone, </a:t>
            </a:r>
            <a:r>
              <a:rPr lang="ru-RU" dirty="0"/>
              <a:t>что позволяет редактировать структуру страницы без изменения </a:t>
            </a:r>
            <a:r>
              <a:rPr lang="en" dirty="0"/>
              <a:t>frontend-</a:t>
            </a:r>
            <a:r>
              <a:rPr lang="ru-RU" dirty="0"/>
              <a:t>кода.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9FBD47-91EC-FA65-4C20-FDC7EACFF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4BEF9-4345-410B-8554-2E50C721AA6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647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F8386-25CA-4A40-BD89-A7E1A1BF4CC3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567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55415-2891-BE46-879F-E24BF771B62B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272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E54F-90E0-0245-B009-38B4E462EC0F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9889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DCB3-72B0-874F-B0C6-D2A0CAD455EB}" type="datetime1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901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EF02B-ECA0-3B4C-B70A-6F5D318B93F2}" type="datetime1">
              <a:rPr lang="ru-RU" smtClean="0"/>
              <a:t>09.06.2026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35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414E7-0A71-5C4E-A2A3-B3A77A505257}" type="datetime1">
              <a:rPr lang="ru-RU" smtClean="0"/>
              <a:t>09.06.2026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319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227E-4C66-344C-9C97-7F41F601442B}" type="datetime1">
              <a:rPr lang="ru-RU" smtClean="0"/>
              <a:t>09.06.2026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059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65B2A-9E05-3C47-9375-235D27C84995}" type="datetime1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444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8FE8E-7962-4F47-9389-C489AE990761}" type="datetime1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9606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E9DB4-5AD7-0445-869E-2AE7A26218FC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057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A692D-1929-6949-A46E-5A8DFD9E8A57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490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5BD1F-5316-954D-8A5C-FD7BE88E4FAC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9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647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51520" y="195486"/>
            <a:ext cx="8640960" cy="47525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8"/>
          <p:cNvSpPr>
            <a:spLocks noGrp="1"/>
          </p:cNvSpPr>
          <p:nvPr>
            <p:ph type="ctrTitle"/>
          </p:nvPr>
        </p:nvSpPr>
        <p:spPr>
          <a:xfrm>
            <a:off x="874294" y="1419622"/>
            <a:ext cx="7395411" cy="1080120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Разработка системы управления контентом в сфере маркетинга на базе </a:t>
            </a:r>
            <a:r>
              <a:rPr lang="en" sz="2400" dirty="0" err="1">
                <a:solidFill>
                  <a:schemeClr val="bg1"/>
                </a:solidFill>
              </a:rPr>
              <a:t>Strapi</a:t>
            </a:r>
            <a:r>
              <a:rPr lang="en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и </a:t>
            </a:r>
            <a:r>
              <a:rPr lang="en" sz="2400" dirty="0">
                <a:solidFill>
                  <a:schemeClr val="bg1"/>
                </a:solidFill>
              </a:rPr>
              <a:t>Astro</a:t>
            </a:r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BE6C14C1-D041-F7B7-575F-A1E558F7DA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88582" y="3126260"/>
            <a:ext cx="4131890" cy="17497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54610" lvl="0" algn="l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ru-RU" sz="1400" b="1" dirty="0">
                <a:solidFill>
                  <a:schemeClr val="bg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Выполнил</a:t>
            </a:r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: студент 4 курса</a:t>
            </a: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</a:t>
            </a:r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09.03.01 Информатика и вычислительная техника, Технологии разработки программного  обеспечения</a:t>
            </a:r>
          </a:p>
          <a:p>
            <a:pPr marR="54610" lvl="0" algn="l">
              <a:lnSpc>
                <a:spcPct val="115000"/>
              </a:lnSpc>
              <a:spcBef>
                <a:spcPts val="430"/>
              </a:spcBef>
              <a:buClr>
                <a:schemeClr val="dk1"/>
              </a:buClr>
              <a:buSzPts val="1100"/>
            </a:pPr>
            <a:r>
              <a:rPr lang="ru-RU" sz="1400" dirty="0" err="1">
                <a:solidFill>
                  <a:schemeClr val="bg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Нахатакян</a:t>
            </a:r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Артур Романович</a:t>
            </a:r>
          </a:p>
          <a:p>
            <a:pPr marR="54610" lvl="0" algn="l">
              <a:lnSpc>
                <a:spcPct val="115000"/>
              </a:lnSpc>
              <a:spcBef>
                <a:spcPts val="430"/>
              </a:spcBef>
              <a:buClr>
                <a:schemeClr val="dk1"/>
              </a:buClr>
              <a:buSzPts val="1100"/>
            </a:pPr>
            <a:r>
              <a:rPr lang="ru-RU" sz="1400" b="1" dirty="0">
                <a:solidFill>
                  <a:schemeClr val="bg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Руководитель</a:t>
            </a:r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: </a:t>
            </a:r>
            <a:r>
              <a:rPr lang="ru-RU" sz="1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к.п.н</a:t>
            </a:r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., доцент кафедры </a:t>
            </a:r>
            <a:r>
              <a:rPr lang="ru-RU" sz="1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ИИТиТО</a:t>
            </a:r>
            <a:b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Государев Илья Борисович</a:t>
            </a:r>
          </a:p>
          <a:p>
            <a:pPr marL="0" marR="5461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bg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15D365-2F7B-3BC3-BEDC-3F0A6F8715AD}"/>
              </a:ext>
            </a:extLst>
          </p:cNvPr>
          <p:cNvSpPr txBox="1"/>
          <p:nvPr/>
        </p:nvSpPr>
        <p:spPr>
          <a:xfrm>
            <a:off x="1149014" y="411510"/>
            <a:ext cx="68073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Российский государственный педагогический университет им. А. И. Герцена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</a:rPr>
              <a:t>Институт информационных технологий и технологического образования</a:t>
            </a:r>
          </a:p>
        </p:txBody>
      </p:sp>
    </p:spTree>
    <p:extLst>
      <p:ext uri="{BB962C8B-B14F-4D97-AF65-F5344CB8AC3E}">
        <p14:creationId xmlns:p14="http://schemas.microsoft.com/office/powerpoint/2010/main" val="3260335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36"/>
    </mc:Choice>
    <mc:Fallback>
      <p:transition spd="slow" advTm="1263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C80C1-042E-E81E-12EF-ACF14437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127A460-12E0-4807-94CC-4370DBCDB272}"/>
              </a:ext>
            </a:extLst>
          </p:cNvPr>
          <p:cNvSpPr txBox="1"/>
          <p:nvPr/>
        </p:nvSpPr>
        <p:spPr>
          <a:xfrm>
            <a:off x="544690" y="474226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Актуальность, объект, предмет, цель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DE6174-0C32-6357-772F-5C613BD03E86}"/>
              </a:ext>
            </a:extLst>
          </p:cNvPr>
          <p:cNvSpPr txBox="1"/>
          <p:nvPr/>
        </p:nvSpPr>
        <p:spPr>
          <a:xfrm>
            <a:off x="539552" y="1201851"/>
            <a:ext cx="784887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Актуальность</a:t>
            </a:r>
            <a:br>
              <a:rPr lang="ru-RU" sz="1400" dirty="0"/>
            </a:br>
            <a:r>
              <a:rPr lang="ru-RU" sz="1400" dirty="0"/>
              <a:t>Корпоративные маркетинговые сайты требуют регулярного обновления контента, поддержки</a:t>
            </a:r>
          </a:p>
          <a:p>
            <a:r>
              <a:rPr lang="ru-RU" sz="1400" dirty="0"/>
              <a:t>нескольких языков, управления структурой страниц и воспроизводимого сценария публикации</a:t>
            </a:r>
          </a:p>
          <a:p>
            <a:r>
              <a:rPr lang="ru-RU" sz="1400" dirty="0"/>
              <a:t>без постоянного участия разработчика.</a:t>
            </a:r>
          </a:p>
          <a:p>
            <a:endParaRPr lang="ru-RU" sz="1400" dirty="0"/>
          </a:p>
          <a:p>
            <a:r>
              <a:rPr lang="ru-RU" sz="1400" b="1" dirty="0"/>
              <a:t>Объект исследования</a:t>
            </a:r>
            <a:endParaRPr lang="ru-RU" sz="1400" dirty="0"/>
          </a:p>
          <a:p>
            <a:r>
              <a:rPr lang="ru-RU" sz="1400" dirty="0"/>
              <a:t>Процессы управления контентом корпоративного маркетингового сайта.</a:t>
            </a:r>
          </a:p>
          <a:p>
            <a:endParaRPr lang="ru-RU" sz="1400" dirty="0"/>
          </a:p>
          <a:p>
            <a:r>
              <a:rPr lang="ru-RU" sz="1400" b="1" dirty="0"/>
              <a:t>Предмет исследования</a:t>
            </a:r>
            <a:endParaRPr lang="ru-RU" sz="1400" dirty="0"/>
          </a:p>
          <a:p>
            <a:r>
              <a:rPr lang="ru-RU" sz="1400" dirty="0"/>
              <a:t>Архитектурные и программные решения для </a:t>
            </a:r>
            <a:r>
              <a:rPr lang="en" sz="1400" dirty="0"/>
              <a:t>CMS-first </a:t>
            </a:r>
            <a:r>
              <a:rPr lang="ru-RU" sz="1400" dirty="0"/>
              <a:t>платформы на базе </a:t>
            </a:r>
            <a:r>
              <a:rPr lang="en" sz="1400" dirty="0" err="1"/>
              <a:t>Strapi</a:t>
            </a:r>
            <a:r>
              <a:rPr lang="en" sz="1400" dirty="0"/>
              <a:t> </a:t>
            </a:r>
            <a:r>
              <a:rPr lang="ru-RU" sz="1400" dirty="0"/>
              <a:t>и </a:t>
            </a:r>
            <a:r>
              <a:rPr lang="en" sz="1400" dirty="0"/>
              <a:t>Astro.</a:t>
            </a:r>
          </a:p>
          <a:p>
            <a:endParaRPr lang="en" sz="1400" dirty="0"/>
          </a:p>
          <a:p>
            <a:r>
              <a:rPr lang="ru-RU" sz="1400" b="1" dirty="0"/>
              <a:t>Цель работы</a:t>
            </a:r>
            <a:endParaRPr lang="ru-RU" sz="1400" dirty="0"/>
          </a:p>
          <a:p>
            <a:r>
              <a:rPr lang="ru-RU" sz="1400" dirty="0"/>
              <a:t>Разработать систему, позволяющую управлять страницами, статьями, кейсами и вакансиями</a:t>
            </a:r>
          </a:p>
          <a:p>
            <a:r>
              <a:rPr lang="ru-RU" sz="1400" dirty="0"/>
              <a:t>без участия разработчика.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269AC9D-81FD-B464-2516-992DC2776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6734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65"/>
    </mc:Choice>
    <mc:Fallback>
      <p:transition spd="slow" advTm="1016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574FD-BF2F-1958-8496-D663E62D5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E670F7-5403-5414-13DB-342C4EEA703D}"/>
              </a:ext>
            </a:extLst>
          </p:cNvPr>
          <p:cNvSpPr txBox="1"/>
          <p:nvPr/>
        </p:nvSpPr>
        <p:spPr>
          <a:xfrm>
            <a:off x="544690" y="474226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Задачи работы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F91CDB-8B5C-1AC8-1A13-350B35A6105A}"/>
              </a:ext>
            </a:extLst>
          </p:cNvPr>
          <p:cNvSpPr txBox="1"/>
          <p:nvPr/>
        </p:nvSpPr>
        <p:spPr>
          <a:xfrm>
            <a:off x="539552" y="1203598"/>
            <a:ext cx="763284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Проанализировать особенности маркетинговых сайтов и обосновать выбор </a:t>
            </a:r>
            <a:r>
              <a:rPr lang="en" sz="1600" dirty="0"/>
              <a:t>CMS-first.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Сформировать требования и спроектировать архитектуру и модель данных.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Реализовать </a:t>
            </a:r>
            <a:r>
              <a:rPr lang="en" sz="1600" dirty="0"/>
              <a:t>CMS-first </a:t>
            </a:r>
            <a:r>
              <a:rPr lang="ru-RU" sz="1600" dirty="0"/>
              <a:t>контур управления страницами и ключевым контентом.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Реализовать публичную витрину: </a:t>
            </a:r>
            <a:r>
              <a:rPr lang="en" sz="1600" dirty="0" err="1"/>
              <a:t>ru</a:t>
            </a:r>
            <a:r>
              <a:rPr lang="en" sz="1600" dirty="0"/>
              <a:t>/</a:t>
            </a:r>
            <a:r>
              <a:rPr lang="en" sz="1600" dirty="0" err="1"/>
              <a:t>en</a:t>
            </a:r>
            <a:r>
              <a:rPr lang="en" sz="1600" dirty="0"/>
              <a:t>, preview, SEO, Open Graph, sitemap.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Организовать эксплуатационный контур: роли, защита сценариев, </a:t>
            </a:r>
            <a:r>
              <a:rPr lang="en" sz="1600" dirty="0"/>
              <a:t>webhook -&gt; rebuild, deployment.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Провести проверку ключевых пользовательских и редакторских сценариев.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7C19990-94D1-FFE9-717F-C7B643CE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209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65"/>
    </mc:Choice>
    <mc:Fallback>
      <p:transition spd="slow" advTm="1016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F5A1B-E063-344D-D5E1-63B055EA1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968035A-5AF2-ABCF-CC57-90CF5143C203}"/>
              </a:ext>
            </a:extLst>
          </p:cNvPr>
          <p:cNvSpPr txBox="1"/>
          <p:nvPr/>
        </p:nvSpPr>
        <p:spPr>
          <a:xfrm>
            <a:off x="544690" y="474226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Задача 1. Архитектурный подход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109271-8705-D9B7-326A-579690142870}"/>
              </a:ext>
            </a:extLst>
          </p:cNvPr>
          <p:cNvSpPr txBox="1"/>
          <p:nvPr/>
        </p:nvSpPr>
        <p:spPr>
          <a:xfrm>
            <a:off x="539552" y="1203598"/>
            <a:ext cx="76328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Выбрана </a:t>
            </a:r>
            <a:r>
              <a:rPr lang="en" dirty="0"/>
              <a:t>CMS-first</a:t>
            </a:r>
            <a:r>
              <a:rPr lang="en" sz="1600" dirty="0"/>
              <a:t> </a:t>
            </a:r>
            <a:r>
              <a:rPr lang="ru-RU" sz="1600" dirty="0"/>
              <a:t>архитектура с разделением контентного и </a:t>
            </a:r>
            <a:r>
              <a:rPr lang="en" sz="1600" dirty="0"/>
              <a:t>frontend-</a:t>
            </a:r>
            <a:r>
              <a:rPr lang="ru-RU" sz="1600" dirty="0"/>
              <a:t>слоев;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 err="1"/>
              <a:t>Strapi</a:t>
            </a:r>
            <a:r>
              <a:rPr lang="en" sz="1600" dirty="0"/>
              <a:t> </a:t>
            </a:r>
            <a:r>
              <a:rPr lang="ru-RU" sz="1600" dirty="0"/>
              <a:t>используется как ядро управления контентом и редакторскими сценариями;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Astro</a:t>
            </a:r>
            <a:r>
              <a:rPr lang="en" sz="1600" dirty="0"/>
              <a:t> </a:t>
            </a:r>
            <a:r>
              <a:rPr lang="ru-RU" sz="1600" dirty="0"/>
              <a:t>используется как публичная витрина маркетингового сайта;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Публикация организована по схеме </a:t>
            </a:r>
            <a:r>
              <a:rPr lang="en" dirty="0"/>
              <a:t>webhook -&gt; rebuild</a:t>
            </a:r>
            <a:r>
              <a:rPr lang="en" sz="1600" dirty="0"/>
              <a:t>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1C63742-97B8-F40C-58A4-7B226A5F5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087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65"/>
    </mc:Choice>
    <mc:Fallback>
      <p:transition spd="slow" advTm="1016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F161C-19B1-2A98-224E-D30071D50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1001B2B-ACAA-0F11-2151-E4DDABB747A4}"/>
              </a:ext>
            </a:extLst>
          </p:cNvPr>
          <p:cNvSpPr txBox="1"/>
          <p:nvPr/>
        </p:nvSpPr>
        <p:spPr>
          <a:xfrm>
            <a:off x="544690" y="474226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Задачи 2-3. Контентная модель и </a:t>
            </a:r>
            <a:r>
              <a:rPr lang="en" dirty="0"/>
              <a:t>CMS-</a:t>
            </a:r>
            <a:r>
              <a:rPr lang="ru-RU" dirty="0"/>
              <a:t>контур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296A74-358C-6B5E-7375-16CC90D56B6B}"/>
              </a:ext>
            </a:extLst>
          </p:cNvPr>
          <p:cNvSpPr txBox="1"/>
          <p:nvPr/>
        </p:nvSpPr>
        <p:spPr>
          <a:xfrm>
            <a:off x="539552" y="1203598"/>
            <a:ext cx="7416824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спроектированы сущности </a:t>
            </a:r>
            <a:r>
              <a:rPr lang="en" dirty="0"/>
              <a:t>home-page</a:t>
            </a:r>
            <a:r>
              <a:rPr lang="en" sz="1600" dirty="0"/>
              <a:t>, </a:t>
            </a:r>
            <a:r>
              <a:rPr lang="en" dirty="0"/>
              <a:t>page</a:t>
            </a:r>
            <a:r>
              <a:rPr lang="en" sz="1600" dirty="0"/>
              <a:t>, </a:t>
            </a:r>
            <a:r>
              <a:rPr lang="en" dirty="0"/>
              <a:t>article</a:t>
            </a:r>
            <a:r>
              <a:rPr lang="en" sz="1600" dirty="0"/>
              <a:t>, </a:t>
            </a:r>
            <a:r>
              <a:rPr lang="en" dirty="0"/>
              <a:t>project</a:t>
            </a:r>
            <a:r>
              <a:rPr lang="en" sz="1600" dirty="0"/>
              <a:t>, </a:t>
            </a:r>
            <a:r>
              <a:rPr lang="en" dirty="0"/>
              <a:t>vacancy</a:t>
            </a:r>
            <a:r>
              <a:rPr lang="en" sz="1600" dirty="0"/>
              <a:t> </a:t>
            </a:r>
            <a:r>
              <a:rPr lang="ru-RU" sz="1600" dirty="0"/>
              <a:t>и связанные справочники;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для маркетинговых страниц реализован конструктор на основе </a:t>
            </a:r>
            <a:r>
              <a:rPr lang="en" dirty="0"/>
              <a:t>Dynamic Zone</a:t>
            </a:r>
            <a:r>
              <a:rPr lang="en" sz="1600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ключевые интерфейсные тексты и </a:t>
            </a:r>
            <a:r>
              <a:rPr lang="en" dirty="0"/>
              <a:t>SEO</a:t>
            </a:r>
            <a:r>
              <a:rPr lang="en" sz="1600" dirty="0"/>
              <a:t>-</a:t>
            </a:r>
            <a:r>
              <a:rPr lang="ru-RU" sz="1600" dirty="0"/>
              <a:t>метаданные вынесены в </a:t>
            </a:r>
            <a:r>
              <a:rPr lang="en" dirty="0" err="1"/>
              <a:t>Strapi</a:t>
            </a:r>
            <a:r>
              <a:rPr lang="en" sz="1600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редактирование контента отделено от изменения </a:t>
            </a:r>
            <a:r>
              <a:rPr lang="en" sz="1600" dirty="0"/>
              <a:t>frontend-</a:t>
            </a:r>
            <a:r>
              <a:rPr lang="ru-RU" sz="1600" dirty="0"/>
              <a:t>кода.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E8A9D25-7BCD-A103-F5BF-CCDB51FC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364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65"/>
    </mc:Choice>
    <mc:Fallback>
      <p:transition spd="slow" advTm="1016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B522-1A99-4FD1-A9BA-02794242A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DA5E03-D227-729B-7795-2C20F0C97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92161"/>
            <a:ext cx="7056784" cy="4359178"/>
          </a:xfrm>
          <a:prstGeom prst="roundRect">
            <a:avLst>
              <a:gd name="adj" fmla="val 2480"/>
            </a:avLst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A54A03E5-F677-9BA0-70AE-9913FD7CB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270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65"/>
    </mc:Choice>
    <mc:Fallback>
      <p:transition spd="slow" advTm="1016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60900-7541-C2F2-2C41-C023808D1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11B5193-A045-86BE-323E-EC71BE3CB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43" y="123477"/>
            <a:ext cx="7520714" cy="4896546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5814948-6E43-A554-79FF-E2969BDAB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944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65"/>
    </mc:Choice>
    <mc:Fallback>
      <p:transition spd="slow" advTm="1016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C8A4A-61D6-FEA6-F2CD-24EA31EBD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D382358-78BE-6D53-0D85-212AC23BA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43" y="123477"/>
            <a:ext cx="7520714" cy="4896546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54343-9486-BD07-705D-65FD1B1D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034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65"/>
    </mc:Choice>
    <mc:Fallback>
      <p:transition spd="slow" advTm="1016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B9691-21C5-6AB6-8350-2B7659270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E14515-4E7B-4449-1C2D-F07441C4C290}"/>
              </a:ext>
            </a:extLst>
          </p:cNvPr>
          <p:cNvSpPr txBox="1"/>
          <p:nvPr/>
        </p:nvSpPr>
        <p:spPr>
          <a:xfrm>
            <a:off x="544690" y="474226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Задача 4. Публичная витрина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7A0C05-7925-D12B-646F-7E33C4F6EF5E}"/>
              </a:ext>
            </a:extLst>
          </p:cNvPr>
          <p:cNvSpPr txBox="1"/>
          <p:nvPr/>
        </p:nvSpPr>
        <p:spPr>
          <a:xfrm>
            <a:off x="539552" y="1203598"/>
            <a:ext cx="74168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Реализованы локализованные маршруты </a:t>
            </a:r>
            <a:r>
              <a:rPr lang="en" sz="1600" dirty="0" err="1"/>
              <a:t>ru</a:t>
            </a:r>
            <a:r>
              <a:rPr lang="en" sz="1600" dirty="0"/>
              <a:t>/</a:t>
            </a:r>
            <a:r>
              <a:rPr lang="en" sz="1600" dirty="0" err="1"/>
              <a:t>en</a:t>
            </a:r>
            <a:r>
              <a:rPr lang="en" sz="1600" dirty="0"/>
              <a:t> </a:t>
            </a:r>
            <a:r>
              <a:rPr lang="ru-RU" sz="1600" dirty="0"/>
              <a:t>для основной витрины;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Добавлен </a:t>
            </a:r>
            <a:r>
              <a:rPr lang="en" sz="1600" dirty="0"/>
              <a:t>preview mode </a:t>
            </a:r>
            <a:r>
              <a:rPr lang="ru-RU" sz="1600" dirty="0"/>
              <a:t>для чернового контента;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Настроены </a:t>
            </a:r>
            <a:r>
              <a:rPr lang="en" sz="1600" dirty="0"/>
              <a:t>SEO, Open Graph </a:t>
            </a:r>
            <a:r>
              <a:rPr lang="ru-RU" sz="1600" dirty="0"/>
              <a:t>и автоматическая генерация </a:t>
            </a:r>
            <a:r>
              <a:rPr lang="en" sz="1600" dirty="0"/>
              <a:t>sitemap;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</a:t>
            </a:r>
            <a:r>
              <a:rPr lang="en" sz="1600" dirty="0" err="1"/>
              <a:t>rontend</a:t>
            </a:r>
            <a:r>
              <a:rPr lang="en" sz="1600" dirty="0"/>
              <a:t> </a:t>
            </a:r>
            <a:r>
              <a:rPr lang="ru-RU" sz="1600" dirty="0"/>
              <a:t>использует </a:t>
            </a:r>
            <a:r>
              <a:rPr lang="en" sz="1600" dirty="0"/>
              <a:t>CMS </a:t>
            </a:r>
            <a:r>
              <a:rPr lang="ru-RU" sz="1600" dirty="0"/>
              <a:t>как источник контента по </a:t>
            </a:r>
            <a:r>
              <a:rPr lang="en" sz="1600" dirty="0"/>
              <a:t>CMS-first </a:t>
            </a:r>
            <a:r>
              <a:rPr lang="ru-RU" sz="1600" dirty="0"/>
              <a:t>модели.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7FEC8FE-8C17-AA8F-CF88-BD7595D1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510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65"/>
    </mc:Choice>
    <mc:Fallback>
      <p:transition spd="slow" advTm="1016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1620-F22B-2820-BFEC-1E996867B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F8FBF3-844F-BBD1-4357-752D767DED1B}"/>
              </a:ext>
            </a:extLst>
          </p:cNvPr>
          <p:cNvSpPr txBox="1"/>
          <p:nvPr/>
        </p:nvSpPr>
        <p:spPr>
          <a:xfrm>
            <a:off x="544690" y="474226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Задача 4. Публичная витрина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1946431-FAA7-31DA-376C-FD4AAC43F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843558"/>
            <a:ext cx="4464496" cy="2766515"/>
          </a:xfrm>
          <a:prstGeom prst="roundRect">
            <a:avLst>
              <a:gd name="adj" fmla="val 3365"/>
            </a:avLst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2232F6-E20D-99B8-0F33-F74708D1A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1811456"/>
            <a:ext cx="4176464" cy="2589121"/>
          </a:xfrm>
          <a:prstGeom prst="roundRect">
            <a:avLst>
              <a:gd name="adj" fmla="val 1593"/>
            </a:avLst>
          </a:prstGeom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770FB2D-CF35-A03B-B540-C561657CF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707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65"/>
    </mc:Choice>
    <mc:Fallback>
      <p:transition spd="slow" advTm="1016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F645A-0676-161D-FCE3-ABE323CD6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FD8058A-F628-63C7-A6FE-13D10A523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41" y="195485"/>
            <a:ext cx="7299518" cy="4752530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6D9EAAD-09E4-9E76-F26E-8FAC48033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268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65"/>
    </mc:Choice>
    <mc:Fallback>
      <p:transition spd="slow" advTm="1016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8362A-9F93-4A87-496B-24137AF30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DE975E7-E377-CDF9-6415-93D84133576E}"/>
              </a:ext>
            </a:extLst>
          </p:cNvPr>
          <p:cNvSpPr txBox="1"/>
          <p:nvPr/>
        </p:nvSpPr>
        <p:spPr>
          <a:xfrm>
            <a:off x="544690" y="474226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Задача 5. Эксплуатационный контур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15490C-1442-5826-068F-78C6C8ECA3F3}"/>
              </a:ext>
            </a:extLst>
          </p:cNvPr>
          <p:cNvSpPr txBox="1"/>
          <p:nvPr/>
        </p:nvSpPr>
        <p:spPr>
          <a:xfrm>
            <a:off x="539552" y="1203598"/>
            <a:ext cx="74168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Организованы роли и права редакторов для разделения контуров работы;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Защищены публичные сценарии и </a:t>
            </a:r>
            <a:r>
              <a:rPr lang="en" sz="1600" dirty="0"/>
              <a:t>server-side </a:t>
            </a:r>
            <a:r>
              <a:rPr lang="ru-RU" sz="1600" dirty="0"/>
              <a:t>маршруты форм;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Публикация связана со схемой </a:t>
            </a:r>
            <a:r>
              <a:rPr lang="en" sz="1600" dirty="0"/>
              <a:t>webhook -&gt; rebuild;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/>
              <a:t>Frontend </a:t>
            </a:r>
            <a:r>
              <a:rPr lang="ru-RU" sz="1600" dirty="0"/>
              <a:t>и </a:t>
            </a:r>
            <a:r>
              <a:rPr lang="en" sz="1600" dirty="0"/>
              <a:t>CMS </a:t>
            </a:r>
            <a:r>
              <a:rPr lang="ru-RU" sz="1600" dirty="0"/>
              <a:t>оформлены как отдельные </a:t>
            </a:r>
            <a:r>
              <a:rPr lang="en" sz="1600" dirty="0"/>
              <a:t>Docker-</a:t>
            </a:r>
            <a:r>
              <a:rPr lang="ru-RU" sz="1600" dirty="0"/>
              <a:t>приложения под управлением </a:t>
            </a:r>
            <a:r>
              <a:rPr lang="en" sz="1600" dirty="0" err="1"/>
              <a:t>Dokploy</a:t>
            </a:r>
            <a:r>
              <a:rPr lang="en" sz="1600" dirty="0"/>
              <a:t>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C2ADF27-FA81-597B-1DDD-613DE62EA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417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65"/>
    </mc:Choice>
    <mc:Fallback>
      <p:transition spd="slow" advTm="1016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F96C-CD78-B2A0-5EC7-4549BF3D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BEC2875-16AC-A49C-5DBD-3821B579A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43" y="123477"/>
            <a:ext cx="7520714" cy="4896546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99464A-6A77-8411-2AA8-C8FC44E8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013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65"/>
    </mc:Choice>
    <mc:Fallback>
      <p:transition spd="slow" advTm="1016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CA10F-4A93-B682-9762-73E4E7DD1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5D8E7FB-F9C3-74FA-5CFE-E476BDF18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45" y="123478"/>
            <a:ext cx="7520710" cy="4896544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165B8D4-0F80-4C5C-1DF5-3D38FFC4B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808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65"/>
    </mc:Choice>
    <mc:Fallback>
      <p:transition spd="slow" advTm="1016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02056-8984-8789-8245-12CC11D22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C1DAFB8-8CBA-3737-3920-E7029C4A65BE}"/>
              </a:ext>
            </a:extLst>
          </p:cNvPr>
          <p:cNvSpPr txBox="1"/>
          <p:nvPr/>
        </p:nvSpPr>
        <p:spPr>
          <a:xfrm>
            <a:off x="544690" y="474226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Задача 6. Проверка и результаты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9AF825-7A11-401F-CD67-829EA34076A2}"/>
              </a:ext>
            </a:extLst>
          </p:cNvPr>
          <p:cNvSpPr txBox="1"/>
          <p:nvPr/>
        </p:nvSpPr>
        <p:spPr>
          <a:xfrm>
            <a:off x="539552" y="1203598"/>
            <a:ext cx="74168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Подтверждены успешная сборка </a:t>
            </a:r>
            <a:r>
              <a:rPr lang="en" sz="1600" dirty="0"/>
              <a:t>frontend </a:t>
            </a:r>
            <a:r>
              <a:rPr lang="ru-RU" sz="1600" dirty="0"/>
              <a:t>и </a:t>
            </a:r>
            <a:r>
              <a:rPr lang="en" sz="1600" dirty="0"/>
              <a:t>CMS;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Сформировано 37 </a:t>
            </a:r>
            <a:r>
              <a:rPr lang="ru-RU" sz="1600" dirty="0" err="1"/>
              <a:t>предсобранных</a:t>
            </a:r>
            <a:r>
              <a:rPr lang="ru-RU" sz="1600" dirty="0"/>
              <a:t> публичных маршрутов;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Подтверждена работа </a:t>
            </a:r>
            <a:r>
              <a:rPr lang="en" sz="1600" dirty="0"/>
              <a:t>preview, </a:t>
            </a:r>
            <a:r>
              <a:rPr lang="ru-RU" sz="1600" dirty="0"/>
              <a:t>локализации </a:t>
            </a:r>
            <a:r>
              <a:rPr lang="en" sz="1600" dirty="0" err="1"/>
              <a:t>ru</a:t>
            </a:r>
            <a:r>
              <a:rPr lang="en" sz="1600" dirty="0"/>
              <a:t>/</a:t>
            </a:r>
            <a:r>
              <a:rPr lang="en" sz="1600" dirty="0" err="1"/>
              <a:t>en</a:t>
            </a:r>
            <a:r>
              <a:rPr lang="en" sz="1600" dirty="0"/>
              <a:t>, SEO </a:t>
            </a:r>
            <a:r>
              <a:rPr lang="ru-RU" sz="1600" dirty="0"/>
              <a:t>и </a:t>
            </a:r>
            <a:r>
              <a:rPr lang="en" sz="1600" dirty="0"/>
              <a:t>sitemap;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Проверены публичные формы и публикационная </a:t>
            </a:r>
            <a:r>
              <a:rPr lang="en" sz="1600" dirty="0"/>
              <a:t>webhook-</a:t>
            </a:r>
            <a:r>
              <a:rPr lang="ru-RU" sz="1600" dirty="0"/>
              <a:t>связка;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/>
              <a:t>Smoke-</a:t>
            </a:r>
            <a:r>
              <a:rPr lang="ru-RU" sz="1600" dirty="0"/>
              <a:t>проверка и браузерный аудит выполнены без ошибок.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6ED343D-4477-A6A5-304A-C7ADE3A69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78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65"/>
    </mc:Choice>
    <mc:Fallback>
      <p:transition spd="slow" advTm="10165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34016</TotalTime>
  <Words>1134</Words>
  <Application>Microsoft Macintosh PowerPoint</Application>
  <PresentationFormat>Экран (16:9)</PresentationFormat>
  <Paragraphs>108</Paragraphs>
  <Slides>15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Тема Office</vt:lpstr>
      <vt:lpstr>Разработка системы управления контентом в сфере маркетинга на базе Strapi и Astro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operator</dc:creator>
  <cp:lastModifiedBy>Arthur</cp:lastModifiedBy>
  <cp:revision>7</cp:revision>
  <dcterms:created xsi:type="dcterms:W3CDTF">2023-05-04T19:30:06Z</dcterms:created>
  <dcterms:modified xsi:type="dcterms:W3CDTF">2026-06-09T07:39:52Z</dcterms:modified>
</cp:coreProperties>
</file>